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3" y="36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23.05.2026</a:t>
            </a:fld>
            <a:endParaRPr lang="ru-RU"/>
          </a:p>
        </p:txBody>
      </p:sp>
      <p:sp>
        <p:nvSpPr>
          <p:cNvPr id="49581720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6026E-CAF4-8CBE-32D3-F7A8871B3EE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09FEF-7512-4648-393E-1B0B03DFEEE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66BC-1D99-D455-4AEF-6E2A5633179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407523353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1386906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928184004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055878036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5527050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79638729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569974742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20234974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1036561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8539438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84391499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16483199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52114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166430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60763774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615386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00971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82718963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2" imgW="0" imgH="0" progId="TCLayout.ActiveDocument.1">
                  <p:embed/>
                </p:oleObj>
              </mc:Choice>
              <mc:Fallback>
                <p:oleObj name="oleObj" r:id="rId22" imgW="0" imgH="0" progId="TCLayout.ActiveDocument.1">
                  <p:embed/>
                  <p:pic>
                    <p:nvPicPr>
                      <p:cNvPr id="472394321" name="Объект 6" hidden="1"/>
                      <p:cNvPicPr/>
                      <p:nvPr/>
                    </p:nvPicPr>
                    <p:blipFill rotWithShape="1">
                      <a:blip r:embed="rId23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test-constructor-frontend.onrender.com" TargetMode="Externa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1298448"/>
            <a:ext cx="6380480" cy="7525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93000"/>
              </a:lnSpc>
            </a:pPr>
            <a:r>
              <a:rPr sz="2500" b="1" dirty="0" err="1">
                <a:solidFill>
                  <a:srgbClr val="3156A8"/>
                </a:solidFill>
                <a:latin typeface="Arial"/>
              </a:rPr>
              <a:t>Система</a:t>
            </a:r>
            <a:r>
              <a:rPr sz="2500" b="1" dirty="0">
                <a:solidFill>
                  <a:srgbClr val="3156A8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3156A8"/>
                </a:solidFill>
                <a:latin typeface="Arial"/>
              </a:rPr>
              <a:t>автоматизированного</a:t>
            </a:r>
            <a:r>
              <a:rPr sz="2500" b="1" dirty="0">
                <a:solidFill>
                  <a:srgbClr val="3156A8"/>
                </a:solidFill>
                <a:latin typeface="Arial"/>
              </a:rPr>
              <a:t>
</a:t>
            </a:r>
            <a:r>
              <a:rPr sz="2500" b="1" dirty="0" err="1">
                <a:solidFill>
                  <a:srgbClr val="3156A8"/>
                </a:solidFill>
                <a:latin typeface="Arial"/>
              </a:rPr>
              <a:t>тестирования</a:t>
            </a:r>
            <a:r>
              <a:rPr sz="2500" b="1" dirty="0">
                <a:solidFill>
                  <a:srgbClr val="3156A8"/>
                </a:solidFill>
                <a:latin typeface="Arial"/>
              </a:rPr>
              <a:t> и </a:t>
            </a:r>
            <a:r>
              <a:rPr sz="2500" b="1" dirty="0" err="1">
                <a:solidFill>
                  <a:srgbClr val="3156A8"/>
                </a:solidFill>
                <a:latin typeface="Arial"/>
              </a:rPr>
              <a:t>самопроверки</a:t>
            </a:r>
            <a:r>
              <a:rPr sz="2500" b="1" dirty="0">
                <a:solidFill>
                  <a:srgbClr val="3156A8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3156A8"/>
                </a:solidFill>
                <a:latin typeface="Arial"/>
              </a:rPr>
              <a:t>знаний</a:t>
            </a:r>
            <a:endParaRPr sz="2500" b="1" dirty="0">
              <a:solidFill>
                <a:srgbClr val="3156A8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2304" y="2999232"/>
            <a:ext cx="5120640" cy="2700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dirty="0">
                <a:solidFill>
                  <a:srgbClr val="1D273B"/>
                </a:solidFill>
                <a:latin typeface="Arial"/>
              </a:rPr>
              <a:t>ДПП ПП «</a:t>
            </a:r>
            <a:r>
              <a:rPr sz="1550" b="0" dirty="0" err="1">
                <a:solidFill>
                  <a:srgbClr val="1D273B"/>
                </a:solidFill>
                <a:latin typeface="Arial"/>
              </a:rPr>
              <a:t>Фронтенд</a:t>
            </a:r>
            <a:r>
              <a:rPr sz="1550" b="0" dirty="0">
                <a:solidFill>
                  <a:srgbClr val="1D273B"/>
                </a:solidFill>
                <a:latin typeface="Arial"/>
              </a:rPr>
              <a:t> и </a:t>
            </a:r>
            <a:r>
              <a:rPr sz="1550" b="0" dirty="0" err="1">
                <a:solidFill>
                  <a:srgbClr val="1D273B"/>
                </a:solidFill>
                <a:latin typeface="Arial"/>
              </a:rPr>
              <a:t>бэкенд</a:t>
            </a:r>
            <a:r>
              <a:rPr sz="155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1D273B"/>
                </a:solidFill>
                <a:latin typeface="Arial"/>
              </a:rPr>
              <a:t>разработка</a:t>
            </a:r>
            <a:r>
              <a:rPr sz="1550" b="0" dirty="0">
                <a:solidFill>
                  <a:srgbClr val="1D273B"/>
                </a:solidFill>
                <a:latin typeface="Arial"/>
              </a:rPr>
              <a:t>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304" y="3429000"/>
            <a:ext cx="4389120" cy="5048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dirty="0" err="1">
                <a:solidFill>
                  <a:srgbClr val="1D273B"/>
                </a:solidFill>
                <a:latin typeface="Arial"/>
              </a:rPr>
              <a:t>Выполнил</a:t>
            </a:r>
            <a:r>
              <a:rPr sz="1500" b="0" dirty="0">
                <a:solidFill>
                  <a:srgbClr val="1D273B"/>
                </a:solidFill>
                <a:latin typeface="Arial"/>
              </a:rPr>
              <a:t>: </a:t>
            </a:r>
            <a:r>
              <a:rPr lang="ru-RU" sz="1500" b="0" dirty="0">
                <a:solidFill>
                  <a:srgbClr val="1D273B"/>
                </a:solidFill>
                <a:latin typeface="Arial"/>
              </a:rPr>
              <a:t>студент группы ИКБО-11-23</a:t>
            </a:r>
            <a:br>
              <a:rPr lang="ru-RU" sz="1500" b="0" dirty="0">
                <a:solidFill>
                  <a:srgbClr val="1D273B"/>
                </a:solidFill>
                <a:latin typeface="Arial"/>
              </a:rPr>
            </a:br>
            <a:r>
              <a:rPr sz="1500" b="0" dirty="0">
                <a:solidFill>
                  <a:srgbClr val="1D273B"/>
                </a:solidFill>
                <a:latin typeface="Arial"/>
              </a:rPr>
              <a:t>Дицель Н.С.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Система автоматизированного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3C2D2"/>
                </a:solidFill>
                <a:latin typeface="Arial"/>
              </a:rPr>
              <a:t>Цель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156A8"/>
                </a:solidFill>
                <a:latin typeface="Arial"/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5212080" cy="7945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1D273B"/>
                </a:solidFill>
                <a:latin typeface="Arial"/>
              </a:rPr>
              <a:t>Разработать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клиент-серверное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веб-приложение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для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автоматизации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создания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прохождения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проверки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анализа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образовательных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D273B"/>
                </a:solidFill>
                <a:latin typeface="Arial"/>
              </a:rPr>
              <a:t>тестов</a:t>
            </a:r>
            <a:r>
              <a:rPr sz="1600" b="0" dirty="0">
                <a:solidFill>
                  <a:srgbClr val="1D273B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17756"/>
            <a:ext cx="5394960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3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провести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анализ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предметной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области</a:t>
            </a:r>
            <a:r>
              <a:rPr sz="143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конкурентных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решений</a:t>
            </a:r>
            <a:r>
              <a:rPr sz="143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3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спроектировать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роли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пользователей</a:t>
            </a:r>
            <a:r>
              <a:rPr sz="1430" dirty="0">
                <a:solidFill>
                  <a:srgbClr val="1D273B"/>
                </a:solidFill>
                <a:latin typeface="Arial"/>
              </a:rPr>
              <a:t>,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сущности</a:t>
            </a:r>
            <a:r>
              <a:rPr sz="143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связи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базы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данных</a:t>
            </a:r>
            <a:r>
              <a:rPr sz="143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3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реализовать</a:t>
            </a:r>
            <a:r>
              <a:rPr sz="1430" dirty="0">
                <a:solidFill>
                  <a:srgbClr val="1D273B"/>
                </a:solidFill>
                <a:latin typeface="Arial"/>
              </a:rPr>
              <a:t> React-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интерфейс</a:t>
            </a:r>
            <a:r>
              <a:rPr sz="1430" dirty="0">
                <a:solidFill>
                  <a:srgbClr val="1D273B"/>
                </a:solidFill>
                <a:latin typeface="Arial"/>
              </a:rPr>
              <a:t> и REST API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на</a:t>
            </a:r>
            <a:r>
              <a:rPr sz="1430" dirty="0">
                <a:solidFill>
                  <a:srgbClr val="1D273B"/>
                </a:solidFill>
                <a:latin typeface="Arial"/>
              </a:rPr>
              <a:t> Node.js/Express;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3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добавить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автоматическую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проверку</a:t>
            </a:r>
            <a:r>
              <a:rPr sz="1430" dirty="0">
                <a:solidFill>
                  <a:srgbClr val="1D273B"/>
                </a:solidFill>
                <a:latin typeface="Arial"/>
              </a:rPr>
              <a:t>,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статистику</a:t>
            </a:r>
            <a:r>
              <a:rPr sz="143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экспорт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отчётов</a:t>
            </a:r>
            <a:r>
              <a:rPr sz="143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3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подготовить</a:t>
            </a:r>
            <a:r>
              <a:rPr sz="1430" dirty="0">
                <a:solidFill>
                  <a:srgbClr val="1D273B"/>
                </a:solidFill>
                <a:latin typeface="Arial"/>
              </a:rPr>
              <a:t> 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тестирование</a:t>
            </a:r>
            <a:r>
              <a:rPr sz="1430" dirty="0">
                <a:solidFill>
                  <a:srgbClr val="1D273B"/>
                </a:solidFill>
                <a:latin typeface="Arial"/>
              </a:rPr>
              <a:t>, Docker-</a:t>
            </a:r>
            <a:r>
              <a:rPr sz="1430" dirty="0" err="1">
                <a:solidFill>
                  <a:srgbClr val="1D273B"/>
                </a:solidFill>
                <a:latin typeface="Arial"/>
              </a:rPr>
              <a:t>среду</a:t>
            </a:r>
            <a:r>
              <a:rPr sz="1430" dirty="0">
                <a:solidFill>
                  <a:srgbClr val="1D273B"/>
                </a:solidFill>
                <a:latin typeface="Arial"/>
              </a:rPr>
              <a:t>, Nginx и CI/CD.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7634" y="1622784"/>
            <a:ext cx="2011680" cy="3840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3156A8"/>
                </a:solidFill>
                <a:latin typeface="Arial"/>
              </a:rPr>
              <a:t>Анализ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0322" y="2015976"/>
            <a:ext cx="182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3C2D2"/>
                </a:solidFill>
                <a:latin typeface="Arial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7634" y="2372592"/>
            <a:ext cx="2011680" cy="3840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3156A8"/>
                </a:solidFill>
                <a:latin typeface="Arial"/>
              </a:rPr>
              <a:t>Требования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322" y="2765784"/>
            <a:ext cx="182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3C2D2"/>
                </a:solidFill>
                <a:latin typeface="Arial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7634" y="3122400"/>
            <a:ext cx="2011680" cy="3840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3156A8"/>
                </a:solidFill>
                <a:latin typeface="Arial"/>
              </a:rPr>
              <a:t>Разработка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322" y="3515592"/>
            <a:ext cx="182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3C2D2"/>
                </a:solidFill>
                <a:latin typeface="Arial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7634" y="3872208"/>
            <a:ext cx="2011680" cy="3840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3156A8"/>
                </a:solidFill>
                <a:latin typeface="Arial"/>
              </a:rPr>
              <a:t>Тесты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322" y="4265400"/>
            <a:ext cx="182880" cy="247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endParaRPr sz="1400" b="0" dirty="0">
              <a:solidFill>
                <a:srgbClr val="43C2D2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4168" y="4804178"/>
            <a:ext cx="4937760" cy="2354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 dirty="0" err="1">
                <a:solidFill>
                  <a:srgbClr val="1D273B"/>
                </a:solidFill>
                <a:latin typeface="Arial"/>
              </a:rPr>
              <a:t>Результат</a:t>
            </a:r>
            <a:r>
              <a:rPr sz="1320" b="1" dirty="0">
                <a:solidFill>
                  <a:srgbClr val="1D273B"/>
                </a:solidFill>
                <a:latin typeface="Arial"/>
              </a:rPr>
              <a:t>: </a:t>
            </a:r>
            <a:r>
              <a:rPr sz="1320" b="1" dirty="0" err="1">
                <a:solidFill>
                  <a:srgbClr val="1D273B"/>
                </a:solidFill>
                <a:latin typeface="Arial"/>
              </a:rPr>
              <a:t>приложение</a:t>
            </a:r>
            <a:r>
              <a:rPr sz="1320" b="1" dirty="0">
                <a:solidFill>
                  <a:srgbClr val="1D273B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1D273B"/>
                </a:solidFill>
                <a:latin typeface="Arial"/>
              </a:rPr>
              <a:t>готово</a:t>
            </a:r>
            <a:r>
              <a:rPr sz="1320" b="1" dirty="0">
                <a:solidFill>
                  <a:srgbClr val="1D273B"/>
                </a:solidFill>
                <a:latin typeface="Arial"/>
              </a:rPr>
              <a:t> к </a:t>
            </a:r>
            <a:r>
              <a:rPr sz="1320" b="1" dirty="0" err="1">
                <a:solidFill>
                  <a:srgbClr val="1D273B"/>
                </a:solidFill>
                <a:latin typeface="Arial"/>
              </a:rPr>
              <a:t>запуску</a:t>
            </a:r>
            <a:endParaRPr sz="1320" b="1" dirty="0">
              <a:solidFill>
                <a:srgbClr val="1D273B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Актуальность исследования и анализ конкурентов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249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250" b="0" dirty="0">
                <a:solidFill>
                  <a:srgbClr val="43C2D2"/>
                </a:solidFill>
                <a:latin typeface="Arial"/>
              </a:rPr>
              <a:t>Анализ конкурентов</a:t>
            </a:r>
            <a:endParaRPr sz="1250" b="0" dirty="0">
              <a:solidFill>
                <a:srgbClr val="43C2D2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828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156A8"/>
                </a:solidFill>
                <a:latin typeface="Arial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36192"/>
            <a:ext cx="42062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60" b="1">
                <a:solidFill>
                  <a:srgbClr val="43C2D2"/>
                </a:solidFill>
                <a:latin typeface="Arial"/>
              </a:rPr>
              <a:t>• </a:t>
            </a:r>
            <a:r>
              <a:rPr sz="1360">
                <a:solidFill>
                  <a:srgbClr val="1D273B"/>
                </a:solidFill>
                <a:latin typeface="Arial"/>
              </a:rPr>
              <a:t>ручная проверка и перенос результатов занимают время;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60" b="1">
                <a:solidFill>
                  <a:srgbClr val="43C2D2"/>
                </a:solidFill>
                <a:latin typeface="Arial"/>
              </a:rPr>
              <a:t>• </a:t>
            </a:r>
            <a:r>
              <a:rPr sz="1360">
                <a:solidFill>
                  <a:srgbClr val="1D273B"/>
                </a:solidFill>
                <a:latin typeface="Arial"/>
              </a:rPr>
              <a:t>внешние сервисы ограничивают контроль данных и логики;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60" b="1">
                <a:solidFill>
                  <a:srgbClr val="43C2D2"/>
                </a:solidFill>
                <a:latin typeface="Arial"/>
              </a:rPr>
              <a:t>• </a:t>
            </a:r>
            <a:r>
              <a:rPr sz="1360">
                <a:solidFill>
                  <a:srgbClr val="1D273B"/>
                </a:solidFill>
                <a:latin typeface="Arial"/>
              </a:rPr>
              <a:t>для преподавателя важны роли, аналитика и повтор ошибок;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60" b="1">
                <a:solidFill>
                  <a:srgbClr val="43C2D2"/>
                </a:solidFill>
                <a:latin typeface="Arial"/>
              </a:rPr>
              <a:t>• </a:t>
            </a:r>
            <a:r>
              <a:rPr sz="1360">
                <a:solidFill>
                  <a:srgbClr val="1D273B"/>
                </a:solidFill>
                <a:latin typeface="Arial"/>
              </a:rPr>
              <a:t>нужна компактная система без избыточности полноценной LMS.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639372"/>
              </p:ext>
            </p:extLst>
          </p:nvPr>
        </p:nvGraphicFramePr>
        <p:xfrm>
          <a:off x="4686300" y="1143000"/>
          <a:ext cx="7143751" cy="329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4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73B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73B"/>
                          </a:solidFill>
                          <a:latin typeface="Arial"/>
                        </a:rPr>
                        <a:t>Moodle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73B"/>
                          </a:solidFill>
                          <a:latin typeface="Arial"/>
                        </a:rPr>
                        <a:t>Google Forms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73B"/>
                          </a:solidFill>
                          <a:latin typeface="Arial"/>
                        </a:rPr>
                        <a:t>Quizizz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73B"/>
                          </a:solidFill>
                          <a:latin typeface="Arial"/>
                        </a:rPr>
                        <a:t>Проект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Роли и права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Собственная БД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Аналитика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73B"/>
                          </a:solidFill>
                          <a:latin typeface="Arial"/>
                        </a:rPr>
                        <a:t>Повтор</a:t>
                      </a:r>
                      <a:r>
                        <a:rPr sz="1100" b="0" dirty="0">
                          <a:solidFill>
                            <a:srgbClr val="1D273B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73B"/>
                          </a:solidFill>
                          <a:latin typeface="Arial"/>
                        </a:rPr>
                        <a:t>ошибок</a:t>
                      </a:r>
                      <a:endParaRPr sz="1100" b="0" dirty="0">
                        <a:solidFill>
                          <a:srgbClr val="1D273B"/>
                        </a:solidFill>
                        <a:latin typeface="Arial"/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Простота внедрения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+/-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D273B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572000"/>
            <a:ext cx="104241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4681728"/>
            <a:ext cx="10195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Итог выбора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5029200"/>
            <a:ext cx="1019556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Разработанная система объединяет простоту формы, ролевой контроль LMS и собственное хранение данных без зависимости от внешней платформы.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Требования к веб-приложению и его характеристика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249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250" b="0" dirty="0">
                <a:solidFill>
                  <a:srgbClr val="43C2D2"/>
                </a:solidFill>
                <a:latin typeface="Arial"/>
              </a:rPr>
              <a:t>Требования к веб-приложению</a:t>
            </a:r>
            <a:endParaRPr sz="1250" b="0" dirty="0">
              <a:solidFill>
                <a:srgbClr val="43C2D2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dirty="0" err="1">
                <a:solidFill>
                  <a:srgbClr val="3156A8"/>
                </a:solidFill>
                <a:latin typeface="Arial"/>
              </a:rPr>
              <a:t>Ключевые</a:t>
            </a:r>
            <a:r>
              <a:rPr sz="1700" b="1" dirty="0">
                <a:solidFill>
                  <a:srgbClr val="3156A8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156A8"/>
                </a:solidFill>
                <a:latin typeface="Arial"/>
              </a:rPr>
              <a:t>функции</a:t>
            </a:r>
            <a:endParaRPr sz="1700" b="1" dirty="0">
              <a:solidFill>
                <a:srgbClr val="3156A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536192"/>
            <a:ext cx="4960620" cy="146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регистрация</a:t>
            </a:r>
            <a:r>
              <a:rPr sz="1400" dirty="0">
                <a:solidFill>
                  <a:srgbClr val="1D273B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вход</a:t>
            </a:r>
            <a:r>
              <a:rPr sz="140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профиль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пользователя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роли</a:t>
            </a:r>
            <a:r>
              <a:rPr sz="1400" dirty="0">
                <a:solidFill>
                  <a:srgbClr val="1D273B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студент</a:t>
            </a:r>
            <a:r>
              <a:rPr sz="1400" dirty="0">
                <a:solidFill>
                  <a:srgbClr val="1D273B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преподаватель</a:t>
            </a:r>
            <a:r>
              <a:rPr sz="1400" dirty="0">
                <a:solidFill>
                  <a:srgbClr val="1D273B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администратор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создание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тестов</a:t>
            </a:r>
            <a:r>
              <a:rPr sz="140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вопросов</a:t>
            </a:r>
            <a:r>
              <a:rPr sz="1400" dirty="0">
                <a:solidFill>
                  <a:srgbClr val="1D273B"/>
                </a:solidFill>
                <a:latin typeface="Arial"/>
              </a:rPr>
              <a:t> single / multiple / matching;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прохождение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теста</a:t>
            </a:r>
            <a:r>
              <a:rPr sz="1400" dirty="0">
                <a:solidFill>
                  <a:srgbClr val="1D273B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расчёт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балла</a:t>
            </a:r>
            <a:r>
              <a:rPr sz="140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сохранение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попытки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аналитика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по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результатам</a:t>
            </a:r>
            <a:r>
              <a:rPr sz="140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экспорт</a:t>
            </a:r>
            <a:r>
              <a:rPr sz="1400" dirty="0">
                <a:solidFill>
                  <a:srgbClr val="1D273B"/>
                </a:solidFill>
                <a:latin typeface="Arial"/>
              </a:rPr>
              <a:t> PDF/Excel.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97280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dirty="0" err="1">
                <a:solidFill>
                  <a:srgbClr val="3156A8"/>
                </a:solidFill>
                <a:latin typeface="Arial"/>
              </a:rPr>
              <a:t>Нефункциональные</a:t>
            </a:r>
            <a:r>
              <a:rPr sz="1700" b="1" dirty="0">
                <a:solidFill>
                  <a:srgbClr val="3156A8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156A8"/>
                </a:solidFill>
                <a:latin typeface="Arial"/>
              </a:rPr>
              <a:t>требования</a:t>
            </a:r>
            <a:endParaRPr sz="1700" b="1" dirty="0">
              <a:solidFill>
                <a:srgbClr val="3156A8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1536192"/>
            <a:ext cx="5212080" cy="146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>
                <a:solidFill>
                  <a:srgbClr val="1D273B"/>
                </a:solidFill>
                <a:latin typeface="Arial"/>
              </a:rPr>
              <a:t>JWT-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авторизация</a:t>
            </a:r>
            <a:r>
              <a:rPr sz="1400" dirty="0">
                <a:solidFill>
                  <a:srgbClr val="1D273B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проверка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ролей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на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сервере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bcrypt-хеширование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паролей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валидация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данных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на</a:t>
            </a:r>
            <a:r>
              <a:rPr sz="1400" dirty="0">
                <a:solidFill>
                  <a:srgbClr val="1D273B"/>
                </a:solidFill>
                <a:latin typeface="Arial"/>
              </a:rPr>
              <a:t> frontend и backend;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переменные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окружения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вместо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секретов</a:t>
            </a:r>
            <a:r>
              <a:rPr sz="1400" dirty="0">
                <a:solidFill>
                  <a:srgbClr val="1D273B"/>
                </a:solidFill>
                <a:latin typeface="Arial"/>
              </a:rPr>
              <a:t> в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коде</a:t>
            </a:r>
            <a:r>
              <a:rPr sz="1400" dirty="0">
                <a:solidFill>
                  <a:srgbClr val="1D273B"/>
                </a:solidFill>
                <a:latin typeface="Arial"/>
              </a:rPr>
              <a:t>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43C2D2"/>
                </a:solidFill>
                <a:latin typeface="Arial"/>
              </a:rPr>
              <a:t>•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контейнеризация</a:t>
            </a:r>
            <a:r>
              <a:rPr sz="1400" dirty="0">
                <a:solidFill>
                  <a:srgbClr val="1D273B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D273B"/>
                </a:solidFill>
                <a:latin typeface="Arial"/>
              </a:rPr>
              <a:t>через</a:t>
            </a:r>
            <a:r>
              <a:rPr sz="1400" dirty="0">
                <a:solidFill>
                  <a:srgbClr val="1D273B"/>
                </a:solidFill>
                <a:latin typeface="Arial"/>
              </a:rPr>
              <a:t> Docker Compose и Nginx.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51960"/>
            <a:ext cx="31546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" y="4251960"/>
            <a:ext cx="146304" cy="1115568"/>
          </a:xfrm>
          <a:prstGeom prst="rect">
            <a:avLst/>
          </a:prstGeom>
          <a:solidFill>
            <a:srgbClr val="43C2D2"/>
          </a:solidFill>
          <a:ln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3" y="436168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Студент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4709160"/>
            <a:ext cx="292608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проходит тест
видит результат
повторяет ошибки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251960"/>
            <a:ext cx="31546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8263" y="4251960"/>
            <a:ext cx="146305" cy="1115568"/>
          </a:xfrm>
          <a:prstGeom prst="rect">
            <a:avLst/>
          </a:prstGeom>
          <a:solidFill>
            <a:srgbClr val="3156A8"/>
          </a:solidFill>
          <a:ln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436168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4709160"/>
            <a:ext cx="292608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создаёт тесты
редактирует вопросы
анализирует попытки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251960"/>
            <a:ext cx="31546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0144" y="4251960"/>
            <a:ext cx="146304" cy="1115568"/>
          </a:xfrm>
          <a:prstGeom prst="rect">
            <a:avLst/>
          </a:prstGeom>
          <a:solidFill>
            <a:srgbClr val="23B982"/>
          </a:solidFill>
          <a:ln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8744" y="436168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Администратор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4709160"/>
            <a:ext cx="292608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управляет ролями
модерирует тесты
настраивает систему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Используемый для реализации проекта технологический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68096"/>
            <a:ext cx="8961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dirty="0">
                <a:solidFill>
                  <a:srgbClr val="43C2D2"/>
                </a:solidFill>
                <a:latin typeface="Arial"/>
              </a:rPr>
              <a:t>Frontend, backend, </a:t>
            </a:r>
            <a:r>
              <a:rPr sz="1250" b="0" dirty="0" err="1">
                <a:solidFill>
                  <a:srgbClr val="43C2D2"/>
                </a:solidFill>
                <a:latin typeface="Arial"/>
              </a:rPr>
              <a:t>база</a:t>
            </a:r>
            <a:r>
              <a:rPr sz="1250" b="0" dirty="0">
                <a:solidFill>
                  <a:srgbClr val="43C2D2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43C2D2"/>
                </a:solidFill>
                <a:latin typeface="Arial"/>
              </a:rPr>
              <a:t>данных</a:t>
            </a:r>
            <a:r>
              <a:rPr sz="1250" b="0" dirty="0">
                <a:solidFill>
                  <a:srgbClr val="43C2D2"/>
                </a:solidFill>
                <a:latin typeface="Arial"/>
              </a:rPr>
              <a:t> и </a:t>
            </a:r>
            <a:r>
              <a:rPr sz="1250" b="0" dirty="0" err="1">
                <a:solidFill>
                  <a:srgbClr val="43C2D2"/>
                </a:solidFill>
                <a:latin typeface="Arial"/>
              </a:rPr>
              <a:t>инфраструктура</a:t>
            </a:r>
            <a:endParaRPr sz="1250" b="0" dirty="0">
              <a:solidFill>
                <a:srgbClr val="43C2D2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25296"/>
            <a:ext cx="4754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0075" y="1225296"/>
            <a:ext cx="149733" cy="804672"/>
          </a:xfrm>
          <a:prstGeom prst="rect">
            <a:avLst/>
          </a:prstGeom>
          <a:solidFill>
            <a:srgbClr val="43C2D2"/>
          </a:solidFill>
          <a:ln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335024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682496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React, React Router, Redux Toolkit, Axios, CSS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29968"/>
            <a:ext cx="2286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ru-RU" sz="1600" dirty="0">
                <a:solidFill>
                  <a:srgbClr val="626E82"/>
                </a:solidFill>
                <a:latin typeface="Arial"/>
              </a:rPr>
              <a:t>+</a:t>
            </a:r>
            <a:endParaRPr sz="1600" b="0" dirty="0">
              <a:solidFill>
                <a:srgbClr val="626E82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304288"/>
            <a:ext cx="4754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4" y="2304288"/>
            <a:ext cx="149733" cy="804672"/>
          </a:xfrm>
          <a:prstGeom prst="rect">
            <a:avLst/>
          </a:prstGeom>
          <a:solidFill>
            <a:srgbClr val="3156A8"/>
          </a:solidFill>
          <a:ln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2414016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761488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Node.js, Express.js, REST API, Sequelize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08960"/>
            <a:ext cx="2286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ru-RU" sz="1600" b="0" dirty="0">
                <a:solidFill>
                  <a:srgbClr val="626E82"/>
                </a:solidFill>
                <a:latin typeface="Arial"/>
              </a:rPr>
              <a:t>+</a:t>
            </a:r>
            <a:endParaRPr sz="1600" b="0" dirty="0">
              <a:solidFill>
                <a:srgbClr val="626E82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4754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0074" y="3383280"/>
            <a:ext cx="149734" cy="804672"/>
          </a:xfrm>
          <a:prstGeom prst="rect">
            <a:avLst/>
          </a:prstGeom>
          <a:solidFill>
            <a:srgbClr val="23B982"/>
          </a:solidFill>
          <a:ln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3493008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840480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PostgreSQL: users, tests, questions, test_results, system_settings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87952"/>
            <a:ext cx="2286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ru-RU" sz="1600" dirty="0">
                <a:solidFill>
                  <a:srgbClr val="626E82"/>
                </a:solidFill>
                <a:latin typeface="Arial"/>
              </a:rPr>
              <a:t>+</a:t>
            </a:r>
            <a:endParaRPr sz="1600" b="0" dirty="0">
              <a:solidFill>
                <a:srgbClr val="626E82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462272"/>
            <a:ext cx="4754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074" y="4462272"/>
            <a:ext cx="149734" cy="804672"/>
          </a:xfrm>
          <a:prstGeom prst="rect">
            <a:avLst/>
          </a:prstGeom>
          <a:solidFill>
            <a:srgbClr val="F2A04B"/>
          </a:solidFill>
          <a:ln>
            <a:solidFill>
              <a:srgbClr val="F2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4572000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Инфраструктура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919472"/>
            <a:ext cx="4526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D273B"/>
                </a:solidFill>
                <a:latin typeface="Arial"/>
              </a:rPr>
              <a:t>Docker Compose, Nginx, Render, GitHub Actions, Swagger/OpenAPI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34440"/>
            <a:ext cx="3657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156A8"/>
                </a:solidFill>
                <a:latin typeface="Arial"/>
              </a:rPr>
              <a:t>Почему этот стек подходит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64208"/>
            <a:ext cx="4846320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3C2D2"/>
                </a:solidFill>
                <a:latin typeface="Arial"/>
              </a:rPr>
              <a:t>• </a:t>
            </a:r>
            <a:r>
              <a:rPr sz="1330">
                <a:solidFill>
                  <a:srgbClr val="1D273B"/>
                </a:solidFill>
                <a:latin typeface="Arial"/>
              </a:rPr>
              <a:t>React SPA быстро переключает разделы без перезагрузки страницы;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3C2D2"/>
                </a:solidFill>
                <a:latin typeface="Arial"/>
              </a:rPr>
              <a:t>• </a:t>
            </a:r>
            <a:r>
              <a:rPr sz="1330">
                <a:solidFill>
                  <a:srgbClr val="1D273B"/>
                </a:solidFill>
                <a:latin typeface="Arial"/>
              </a:rPr>
              <a:t>Express REST API отделяет бизнес-логику от интерфейса;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3C2D2"/>
                </a:solidFill>
                <a:latin typeface="Arial"/>
              </a:rPr>
              <a:t>• </a:t>
            </a:r>
            <a:r>
              <a:rPr sz="1330">
                <a:solidFill>
                  <a:srgbClr val="1D273B"/>
                </a:solidFill>
                <a:latin typeface="Arial"/>
              </a:rPr>
              <a:t>Sequelize описывает модели и связи с PostgreSQL;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3C2D2"/>
                </a:solidFill>
                <a:latin typeface="Arial"/>
              </a:rPr>
              <a:t>• </a:t>
            </a:r>
            <a:r>
              <a:rPr sz="1330">
                <a:solidFill>
                  <a:srgbClr val="1D273B"/>
                </a:solidFill>
                <a:latin typeface="Arial"/>
              </a:rPr>
              <a:t>Swagger упрощает проверку API;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3C2D2"/>
                </a:solidFill>
                <a:latin typeface="Arial"/>
              </a:rPr>
              <a:t>• </a:t>
            </a:r>
            <a:r>
              <a:rPr sz="1330">
                <a:solidFill>
                  <a:srgbClr val="1D273B"/>
                </a:solidFill>
                <a:latin typeface="Arial"/>
              </a:rPr>
              <a:t>Docker делает запуск переносимым.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4023360" cy="402336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40" b="1">
                <a:solidFill>
                  <a:srgbClr val="3156A8"/>
                </a:solidFill>
                <a:latin typeface="Arial"/>
              </a:rPr>
              <a:t>PDF/Excel отчёты: pdfmake + xlsx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19472"/>
            <a:ext cx="4343400" cy="402336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40" b="1">
                <a:solidFill>
                  <a:srgbClr val="3156A8"/>
                </a:solidFill>
                <a:latin typeface="Arial"/>
              </a:rPr>
              <a:t>Защита: JWT + bcryptjs + express-validator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Архитектура приложения и модель данных</a:t>
            </a:r>
          </a:p>
        </p:txBody>
      </p:sp>
      <p:pic>
        <p:nvPicPr>
          <p:cNvPr id="4" name="architecture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79" y="1097280"/>
            <a:ext cx="4546480" cy="4434840"/>
          </a:xfrm>
          <a:prstGeom prst="rect">
            <a:avLst/>
          </a:prstGeom>
        </p:spPr>
      </p:pic>
      <p:pic>
        <p:nvPicPr>
          <p:cNvPr id="5" name="erd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440" y="1097280"/>
            <a:ext cx="532987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5669280"/>
            <a:ext cx="3291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26E82"/>
                </a:solidFill>
                <a:latin typeface="Arial"/>
              </a:rPr>
              <a:t>Общая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5669280"/>
            <a:ext cx="3291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26E82"/>
                </a:solidFill>
                <a:latin typeface="Arial"/>
              </a:rPr>
              <a:t>Сущности базы данных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Практическая реализация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3C2D2"/>
                </a:solidFill>
                <a:latin typeface="Arial"/>
              </a:rPr>
              <a:t>От пользовательского сценария до сохранённого результата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" y="1280160"/>
            <a:ext cx="411480" cy="411480"/>
          </a:xfrm>
          <a:prstGeom prst="roundRect">
            <a:avLst/>
          </a:prstGeom>
          <a:solidFill>
            <a:srgbClr val="43C2D2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1554480" cy="247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Авторизация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21408"/>
            <a:ext cx="1874519" cy="380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dirty="0">
                <a:solidFill>
                  <a:srgbClr val="1D273B"/>
                </a:solidFill>
                <a:latin typeface="Arial"/>
              </a:rPr>
              <a:t>JWT-</a:t>
            </a:r>
            <a:r>
              <a:rPr sz="1100" b="0" dirty="0" err="1">
                <a:solidFill>
                  <a:srgbClr val="1D273B"/>
                </a:solidFill>
                <a:latin typeface="Arial"/>
              </a:rPr>
              <a:t>токен</a:t>
            </a:r>
            <a:r>
              <a:rPr sz="1100" b="0" dirty="0">
                <a:solidFill>
                  <a:srgbClr val="1D273B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1D273B"/>
                </a:solidFill>
                <a:latin typeface="Arial"/>
              </a:rPr>
              <a:t>роль</a:t>
            </a:r>
            <a:r>
              <a:rPr sz="11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D273B"/>
                </a:solidFill>
                <a:latin typeface="Arial"/>
              </a:rPr>
              <a:t>пользователя</a:t>
            </a:r>
            <a:endParaRPr sz="1100" b="0" dirty="0">
              <a:solidFill>
                <a:srgbClr val="1D273B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320040" cy="3377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626E82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1820" y="1277322"/>
            <a:ext cx="411480" cy="411480"/>
          </a:xfrm>
          <a:prstGeom prst="roundRect">
            <a:avLst/>
          </a:prstGeom>
          <a:solidFill>
            <a:srgbClr val="43C2D2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783080"/>
            <a:ext cx="155448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 err="1">
                <a:solidFill>
                  <a:srgbClr val="3156A8"/>
                </a:solidFill>
                <a:latin typeface="Arial"/>
              </a:rPr>
              <a:t>Выбор</a:t>
            </a:r>
            <a:r>
              <a:rPr sz="1600" b="1" dirty="0">
                <a:solidFill>
                  <a:srgbClr val="3156A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56A8"/>
                </a:solidFill>
                <a:latin typeface="Arial"/>
              </a:rPr>
              <a:t>теста</a:t>
            </a:r>
            <a:endParaRPr sz="1600" b="1" dirty="0">
              <a:solidFill>
                <a:srgbClr val="3156A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3160" y="2121408"/>
            <a:ext cx="1874519" cy="2023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dirty="0" err="1">
                <a:solidFill>
                  <a:srgbClr val="1D273B"/>
                </a:solidFill>
                <a:latin typeface="Arial"/>
              </a:rPr>
              <a:t>Каталог</a:t>
            </a:r>
            <a:r>
              <a:rPr sz="11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D273B"/>
                </a:solidFill>
                <a:latin typeface="Arial"/>
              </a:rPr>
              <a:t>активных</a:t>
            </a:r>
            <a:r>
              <a:rPr sz="1100" b="0" dirty="0">
                <a:solidFill>
                  <a:srgbClr val="1D273B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D273B"/>
                </a:solidFill>
                <a:latin typeface="Arial"/>
              </a:rPr>
              <a:t>тестов</a:t>
            </a:r>
            <a:endParaRPr sz="1100" b="0" dirty="0">
              <a:solidFill>
                <a:srgbClr val="1D273B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320040" cy="3377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626E82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1249299"/>
            <a:ext cx="411480" cy="411480"/>
          </a:xfrm>
          <a:prstGeom prst="roundRect">
            <a:avLst/>
          </a:prstGeom>
          <a:solidFill>
            <a:srgbClr val="43C2D2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155448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Ответы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21408"/>
            <a:ext cx="1874519" cy="2023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dirty="0">
                <a:solidFill>
                  <a:srgbClr val="1D273B"/>
                </a:solidFill>
                <a:latin typeface="Arial"/>
              </a:rPr>
              <a:t>single / multiple /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320040" cy="3377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626E82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6660" y="1277322"/>
            <a:ext cx="411480" cy="411480"/>
          </a:xfrm>
          <a:prstGeom prst="roundRect">
            <a:avLst/>
          </a:prstGeom>
          <a:solidFill>
            <a:srgbClr val="43C2D2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155448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Проверка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21408"/>
            <a:ext cx="1874519" cy="2023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D273B"/>
                </a:solidFill>
                <a:latin typeface="Arial"/>
              </a:rPr>
              <a:t>grading service на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371600"/>
            <a:ext cx="320040" cy="3377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626E8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38944" y="1277322"/>
            <a:ext cx="411480" cy="411480"/>
          </a:xfrm>
          <a:prstGeom prst="roundRect">
            <a:avLst/>
          </a:prstGeom>
          <a:solidFill>
            <a:srgbClr val="43C2D2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783080"/>
            <a:ext cx="155448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Аналитика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21408"/>
            <a:ext cx="1874519" cy="380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D273B"/>
                </a:solidFill>
                <a:latin typeface="Arial"/>
              </a:rPr>
              <a:t>результаты, статистика, экспорт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29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ectangle 23"/>
          <p:cNvSpPr/>
          <p:nvPr/>
        </p:nvSpPr>
        <p:spPr>
          <a:xfrm>
            <a:off x="512064" y="3429000"/>
            <a:ext cx="146304" cy="1508760"/>
          </a:xfrm>
          <a:prstGeom prst="rect">
            <a:avLst/>
          </a:prstGeom>
          <a:solidFill>
            <a:srgbClr val="43C2D2"/>
          </a:solidFill>
          <a:ln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740664" y="3538728"/>
            <a:ext cx="32004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3886200"/>
            <a:ext cx="320040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73B"/>
                </a:solidFill>
                <a:latin typeface="Arial"/>
              </a:rPr>
              <a:t>страницы Home, Login, Register, Test, Profile, TeacherAnalytics, AdminDashboard, QuestionsAdmin; состояние хранится в Redux slices.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29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ectangle 27"/>
          <p:cNvSpPr/>
          <p:nvPr/>
        </p:nvSpPr>
        <p:spPr>
          <a:xfrm>
            <a:off x="4261104" y="3429000"/>
            <a:ext cx="146304" cy="1508760"/>
          </a:xfrm>
          <a:prstGeom prst="rect">
            <a:avLst/>
          </a:prstGeom>
          <a:solidFill>
            <a:srgbClr val="3156A8"/>
          </a:solidFill>
          <a:ln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4489704" y="3538728"/>
            <a:ext cx="32004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886200"/>
            <a:ext cx="320040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73B"/>
                </a:solidFill>
                <a:latin typeface="Arial"/>
              </a:rPr>
              <a:t>модули auth, tests, results, admin; middleware авторизации, ролей и валидации; OpenAPI-документация.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429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8010144" y="3429000"/>
            <a:ext cx="146304" cy="1508760"/>
          </a:xfrm>
          <a:prstGeom prst="rect">
            <a:avLst/>
          </a:prstGeom>
          <a:solidFill>
            <a:srgbClr val="23B982"/>
          </a:solidFill>
          <a:ln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238744" y="3538728"/>
            <a:ext cx="320040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156A8"/>
                </a:solidFill>
                <a:latin typeface="Arial"/>
              </a:rPr>
              <a:t>Проверка ответов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3886200"/>
            <a:ext cx="320040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D273B"/>
                </a:solidFill>
                <a:latin typeface="Arial"/>
              </a:rPr>
              <a:t>нормализация вариантов, контроль структуры matching-вопросов, сохранение попытки и списка ошибочных вопросов.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Тестирование и качество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3C2D2"/>
                </a:solidFill>
                <a:latin typeface="Arial"/>
              </a:rPr>
              <a:t>Модульные, компонентные, API и фаззинг-тесты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18709"/>
            <a:ext cx="2148840" cy="4429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dirty="0">
                <a:solidFill>
                  <a:srgbClr val="3156A8"/>
                </a:solidFill>
                <a:latin typeface="Arial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65669"/>
            <a:ext cx="2148840" cy="19941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080" b="0" dirty="0">
                <a:solidFill>
                  <a:srgbClr val="626E82"/>
                </a:solidFill>
                <a:latin typeface="Arial"/>
              </a:rPr>
              <a:t>F</a:t>
            </a:r>
            <a:r>
              <a:rPr sz="1080" b="0" dirty="0">
                <a:solidFill>
                  <a:srgbClr val="626E82"/>
                </a:solidFill>
                <a:latin typeface="Arial"/>
              </a:rPr>
              <a:t>rontend</a:t>
            </a:r>
            <a:r>
              <a:rPr lang="ru-RU" sz="1080" dirty="0">
                <a:solidFill>
                  <a:srgbClr val="626E82"/>
                </a:solidFill>
                <a:latin typeface="Arial"/>
              </a:rPr>
              <a:t> </a:t>
            </a:r>
            <a:r>
              <a:rPr sz="1080" b="0" dirty="0">
                <a:solidFill>
                  <a:srgbClr val="626E82"/>
                </a:solidFill>
                <a:latin typeface="Arial"/>
              </a:rPr>
              <a:t>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93976"/>
            <a:ext cx="1783080" cy="27432"/>
          </a:xfrm>
          <a:prstGeom prst="rect">
            <a:avLst/>
          </a:prstGeom>
          <a:solidFill>
            <a:srgbClr val="43C2D2"/>
          </a:solidFill>
          <a:ln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07792" y="1218709"/>
            <a:ext cx="2148840" cy="4429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dirty="0">
                <a:solidFill>
                  <a:srgbClr val="3156A8"/>
                </a:solidFill>
                <a:latin typeface="Arial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765669"/>
            <a:ext cx="2148840" cy="19941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080" b="0" dirty="0">
                <a:solidFill>
                  <a:srgbClr val="626E82"/>
                </a:solidFill>
                <a:latin typeface="Arial"/>
              </a:rPr>
              <a:t>B</a:t>
            </a:r>
            <a:r>
              <a:rPr sz="1080" b="0" dirty="0">
                <a:solidFill>
                  <a:srgbClr val="626E82"/>
                </a:solidFill>
                <a:latin typeface="Arial"/>
              </a:rPr>
              <a:t>ackend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0672" y="2093976"/>
            <a:ext cx="1783080" cy="27432"/>
          </a:xfrm>
          <a:prstGeom prst="rect">
            <a:avLst/>
          </a:prstGeom>
          <a:solidFill>
            <a:srgbClr val="3156A8"/>
          </a:solidFill>
          <a:ln>
            <a:solidFill>
              <a:srgbClr val="31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30368" y="1234440"/>
            <a:ext cx="214884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dirty="0">
                <a:solidFill>
                  <a:srgbClr val="3156A8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673352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dirty="0">
                <a:solidFill>
                  <a:srgbClr val="626E82"/>
                </a:solidFill>
                <a:latin typeface="Arial"/>
              </a:rPr>
              <a:t>coverage statements/branches/functions/lines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2093976"/>
            <a:ext cx="1783080" cy="27432"/>
          </a:xfrm>
          <a:prstGeom prst="rect">
            <a:avLst/>
          </a:prstGeom>
          <a:solidFill>
            <a:srgbClr val="23B982"/>
          </a:solidFill>
          <a:ln>
            <a:solidFill>
              <a:srgbClr val="23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218709"/>
            <a:ext cx="2148840" cy="4429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dirty="0">
                <a:solidFill>
                  <a:srgbClr val="3156A8"/>
                </a:solidFill>
                <a:latin typeface="Arial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765669"/>
            <a:ext cx="2148840" cy="19941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080" b="0" dirty="0">
                <a:solidFill>
                  <a:srgbClr val="626E82"/>
                </a:solidFill>
                <a:latin typeface="Arial"/>
              </a:rPr>
              <a:t>F</a:t>
            </a:r>
            <a:r>
              <a:rPr sz="1080" b="0" dirty="0">
                <a:solidFill>
                  <a:srgbClr val="626E82"/>
                </a:solidFill>
                <a:latin typeface="Arial"/>
              </a:rPr>
              <a:t>uzzing</a:t>
            </a:r>
            <a:r>
              <a:rPr lang="ru-RU" sz="1080" dirty="0">
                <a:solidFill>
                  <a:srgbClr val="626E82"/>
                </a:solidFill>
                <a:latin typeface="Arial"/>
              </a:rPr>
              <a:t> </a:t>
            </a:r>
            <a:r>
              <a:rPr sz="1080" b="0" dirty="0">
                <a:solidFill>
                  <a:srgbClr val="626E82"/>
                </a:solidFill>
                <a:latin typeface="Arial"/>
              </a:rPr>
              <a:t>failed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093976"/>
            <a:ext cx="1783080" cy="27432"/>
          </a:xfrm>
          <a:prstGeom prst="rect">
            <a:avLst/>
          </a:prstGeom>
          <a:solidFill>
            <a:srgbClr val="F2A04B"/>
          </a:solidFill>
          <a:ln>
            <a:solidFill>
              <a:srgbClr val="F2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lient_cov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5" y="2250301"/>
            <a:ext cx="3482458" cy="2824619"/>
          </a:xfrm>
          <a:prstGeom prst="rect">
            <a:avLst/>
          </a:prstGeom>
        </p:spPr>
      </p:pic>
      <p:pic>
        <p:nvPicPr>
          <p:cNvPr id="17" name="Picture 16" descr="server_cov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424" y="2605916"/>
            <a:ext cx="3847015" cy="2230621"/>
          </a:xfrm>
          <a:prstGeom prst="rect">
            <a:avLst/>
          </a:prstGeom>
        </p:spPr>
      </p:pic>
      <p:pic>
        <p:nvPicPr>
          <p:cNvPr id="18" name="Picture 17" descr="fuzz_bottom.png"/>
          <p:cNvPicPr>
            <a:picLocks noChangeAspect="1"/>
          </p:cNvPicPr>
          <p:nvPr/>
        </p:nvPicPr>
        <p:blipFill>
          <a:blip r:embed="rId5"/>
          <a:srcRect r="50420"/>
          <a:stretch>
            <a:fillRect/>
          </a:stretch>
        </p:blipFill>
        <p:spPr>
          <a:xfrm>
            <a:off x="7934290" y="2628368"/>
            <a:ext cx="3291508" cy="22306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5486400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273B"/>
                </a:solidFill>
                <a:latin typeface="Arial"/>
              </a:rPr>
              <a:t>Проверены UI-компоненты, Redux-состояние, сервис API, middleware, роли, Swagger и устойчивость к SQL/XSS/Traversal payloads.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3156A8"/>
                </a:solidFill>
                <a:latin typeface="Arial"/>
              </a:rPr>
              <a:t>Демонстрация API и работоспособности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3C2D2"/>
                </a:solidFill>
                <a:latin typeface="Arial"/>
              </a:rPr>
              <a:t>Swagger-документация, healthcheck и production-ссылки</a:t>
            </a:r>
          </a:p>
        </p:txBody>
      </p:sp>
      <p:pic>
        <p:nvPicPr>
          <p:cNvPr id="4" name="swagger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63" y="1170432"/>
            <a:ext cx="6554992" cy="3657600"/>
          </a:xfrm>
          <a:prstGeom prst="rect">
            <a:avLst/>
          </a:prstGeom>
        </p:spPr>
      </p:pic>
      <p:pic>
        <p:nvPicPr>
          <p:cNvPr id="5" name="health" descr="health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50901"/>
            <a:ext cx="4251960" cy="995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3429000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156A8"/>
                </a:solidFill>
                <a:latin typeface="Arial"/>
              </a:rPr>
              <a:t>Backend предоставляет маршруты: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767328"/>
            <a:ext cx="34747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3C2D2"/>
                </a:solidFill>
                <a:latin typeface="Arial"/>
              </a:rPr>
              <a:t>• </a:t>
            </a:r>
            <a:r>
              <a:rPr sz="1280">
                <a:solidFill>
                  <a:srgbClr val="1D273B"/>
                </a:solidFill>
                <a:latin typeface="Arial"/>
              </a:rPr>
              <a:t>/api/auth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3C2D2"/>
                </a:solidFill>
                <a:latin typeface="Arial"/>
              </a:rPr>
              <a:t>• </a:t>
            </a:r>
            <a:r>
              <a:rPr sz="1280">
                <a:solidFill>
                  <a:srgbClr val="1D273B"/>
                </a:solidFill>
                <a:latin typeface="Arial"/>
              </a:rPr>
              <a:t>/api/tests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3C2D2"/>
                </a:solidFill>
                <a:latin typeface="Arial"/>
              </a:rPr>
              <a:t>• </a:t>
            </a:r>
            <a:r>
              <a:rPr sz="1280">
                <a:solidFill>
                  <a:srgbClr val="1D273B"/>
                </a:solidFill>
                <a:latin typeface="Arial"/>
              </a:rPr>
              <a:t>/api/results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3C2D2"/>
                </a:solidFill>
                <a:latin typeface="Arial"/>
              </a:rPr>
              <a:t>• </a:t>
            </a:r>
            <a:r>
              <a:rPr sz="1280">
                <a:solidFill>
                  <a:srgbClr val="1D273B"/>
                </a:solidFill>
                <a:latin typeface="Arial"/>
              </a:rPr>
              <a:t>/api/admin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3C2D2"/>
                </a:solidFill>
                <a:latin typeface="Arial"/>
              </a:rPr>
              <a:t>• </a:t>
            </a:r>
            <a:r>
              <a:rPr sz="1280">
                <a:solidFill>
                  <a:srgbClr val="1D273B"/>
                </a:solidFill>
                <a:latin typeface="Arial"/>
              </a:rPr>
              <a:t>/api/health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5843016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>
                <a:solidFill>
                  <a:srgbClr val="1D273B"/>
                </a:solidFill>
                <a:latin typeface="Arial"/>
              </a:rPr>
              <a:t>Готовое решение: </a:t>
            </a:r>
            <a:r>
              <a:rPr sz="1250" b="0">
                <a:solidFill>
                  <a:srgbClr val="3156A8"/>
                </a:solidFill>
                <a:latin typeface="Arial"/>
                <a:hlinkClick r:id="rId5"/>
              </a:rPr>
              <a:t>https://test-constructor-frontend.onrender.com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73152"/>
            <a:ext cx="8961120" cy="3877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3156A8"/>
                </a:solidFill>
                <a:latin typeface="Arial"/>
              </a:rPr>
              <a:t>Результаты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694944"/>
            <a:ext cx="8961120" cy="247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3C2D2"/>
                </a:solidFill>
                <a:latin typeface="Arial"/>
              </a:rPr>
              <a:t>Что реализовано в итоговой fullstack-системе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7498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D273B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D273B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45720" marR="45720" marT="27432" marB="27432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Тестирование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создание, редактирование, публикация, прохождение и проверка тестов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Вопросы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один ответ, несколько ответов, сопоставление элементов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Роли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студент, преподаватель, администратор с разными правами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Данные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PostgreSQL-модели users, tests, questions, test_results, system_settings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Аналитика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статистика попыток, средний балл, экспорт PDF и Excel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Инфраструктура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D273B"/>
                          </a:solidFill>
                          <a:latin typeface="Arial"/>
                        </a:rPr>
                        <a:t>Docker Compose, Nginx, env-настройки, Swagger, healthcheck, CI/CD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41080" y="1325880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>
                <a:solidFill>
                  <a:srgbClr val="3156A8"/>
                </a:solidFill>
                <a:latin typeface="Arial"/>
              </a:rPr>
              <a:t>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1737360"/>
            <a:ext cx="2651760" cy="18140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1D273B"/>
                </a:solidFill>
                <a:latin typeface="Arial"/>
              </a:rPr>
              <a:t>Проект решает задачу автоматизации контроля знаний: преподаватель получает инструмент создания и анализа тестов, студент - удобное прохождение и самопроверку, администратор - управление системой.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4224528"/>
            <a:ext cx="2560320" cy="502920"/>
          </a:xfrm>
          <a:prstGeom prst="roundRect">
            <a:avLst/>
          </a:prstGeom>
          <a:solidFill>
            <a:srgbClr val="EDF6F8"/>
          </a:solidFill>
          <a:ln w="12700">
            <a:solidFill>
              <a:srgbClr val="43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3156A8"/>
                </a:solidFill>
                <a:latin typeface="Arial"/>
              </a:rPr>
              <a:t>Готово к защите и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4892040"/>
            <a:ext cx="2651760" cy="5578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26E82"/>
                </a:solidFill>
                <a:latin typeface="Arial"/>
              </a:rPr>
              <a:t>Запуск: Docker Compose
Документация: Swagger/OpenAPI
Проверка: 100% coverage + fuzzing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836</Words>
  <Application>Microsoft Office PowerPoint</Application>
  <PresentationFormat>Широкоэкранный</PresentationFormat>
  <Paragraphs>181</Paragraphs>
  <Slides>11</Slides>
  <Notes>11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Wingdings</vt:lpstr>
      <vt:lpstr>1_Theme1</vt:lpstr>
      <vt:lpstr>oleObj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Никита Дицель</cp:lastModifiedBy>
  <cp:revision>943</cp:revision>
  <dcterms:created xsi:type="dcterms:W3CDTF">2021-05-24T15:42:45Z</dcterms:created>
  <dcterms:modified xsi:type="dcterms:W3CDTF">2026-05-23T14:14:51Z</dcterms:modified>
</cp:coreProperties>
</file>